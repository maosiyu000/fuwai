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0" y="72"/>
      </p:cViewPr>
      <p:guideLst>
        <p:guide orient="horz" pos="2195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A5E29-137B-6C0E-7E70-1A6C8EDA5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33B10A-A998-00C9-B959-9BD60E15A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5B6E6C-8A2B-92C6-8071-D475A2CA7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27A810-48A8-C0DB-67DD-69B5CBA3C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DA315-D23C-4C66-9325-08AEEFC835C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723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D3BB-8E7E-0D4D-84BA-F39119689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0D454717-78AA-DA93-A901-46669DE34B3D}"/>
              </a:ext>
            </a:extLst>
          </p:cNvPr>
          <p:cNvGrpSpPr/>
          <p:nvPr/>
        </p:nvGrpSpPr>
        <p:grpSpPr>
          <a:xfrm>
            <a:off x="-31750" y="0"/>
            <a:ext cx="12255500" cy="6969760"/>
            <a:chOff x="-100" y="-13"/>
            <a:chExt cx="19300" cy="1097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39F8E50-2416-47E2-71C0-E62B7250FE67}"/>
                </a:ext>
              </a:extLst>
            </p:cNvPr>
            <p:cNvSpPr/>
            <p:nvPr/>
          </p:nvSpPr>
          <p:spPr>
            <a:xfrm>
              <a:off x="0" y="0"/>
              <a:ext cx="19200" cy="10800"/>
            </a:xfrm>
            <a:prstGeom prst="rect">
              <a:avLst/>
            </a:prstGeom>
            <a:gradFill>
              <a:gsLst>
                <a:gs pos="100000">
                  <a:srgbClr val="002456"/>
                </a:gs>
                <a:gs pos="0">
                  <a:srgbClr val="042258"/>
                </a:gs>
              </a:gsLst>
              <a:lin ang="54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22" name="Picture 3">
              <a:extLst>
                <a:ext uri="{FF2B5EF4-FFF2-40B4-BE49-F238E27FC236}">
                  <a16:creationId xmlns:a16="http://schemas.microsoft.com/office/drawing/2014/main" id="{56B81977-E8EF-BE61-0155-91D4DE429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00" y="1093"/>
              <a:ext cx="19184" cy="9870"/>
            </a:xfrm>
            <a:prstGeom prst="rect">
              <a:avLst/>
            </a:prstGeom>
          </p:spPr>
        </p:pic>
        <p:pic>
          <p:nvPicPr>
            <p:cNvPr id="23" name="Picture 47">
              <a:extLst>
                <a:ext uri="{FF2B5EF4-FFF2-40B4-BE49-F238E27FC236}">
                  <a16:creationId xmlns:a16="http://schemas.microsoft.com/office/drawing/2014/main" id="{DE06CD35-5319-A458-197A-20B30025C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" y="-13"/>
              <a:ext cx="9062" cy="10800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7B5DC1E-F2E9-5B28-9A09-D3BD61A41C1E}"/>
              </a:ext>
            </a:extLst>
          </p:cNvPr>
          <p:cNvGrpSpPr/>
          <p:nvPr/>
        </p:nvGrpSpPr>
        <p:grpSpPr>
          <a:xfrm>
            <a:off x="0" y="8255"/>
            <a:ext cx="10134389" cy="1174282"/>
            <a:chOff x="0" y="0"/>
            <a:chExt cx="10134389" cy="1174282"/>
          </a:xfrm>
        </p:grpSpPr>
        <p:pic>
          <p:nvPicPr>
            <p:cNvPr id="2" name="picture 52">
              <a:extLst>
                <a:ext uri="{FF2B5EF4-FFF2-40B4-BE49-F238E27FC236}">
                  <a16:creationId xmlns:a16="http://schemas.microsoft.com/office/drawing/2014/main" id="{71C16B16-8E01-C52F-9110-AA6278711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0000"/>
            </a:blip>
            <a:srcRect r="57526" b="82877"/>
            <a:stretch>
              <a:fillRect/>
            </a:stretch>
          </p:blipFill>
          <p:spPr>
            <a:xfrm>
              <a:off x="0" y="0"/>
              <a:ext cx="5178391" cy="1174282"/>
            </a:xfrm>
            <a:prstGeom prst="rect">
              <a:avLst/>
            </a:prstGeom>
          </p:spPr>
        </p:pic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80B4855-5231-91E8-12BB-6453010A411F}"/>
                </a:ext>
              </a:extLst>
            </p:cNvPr>
            <p:cNvGrpSpPr/>
            <p:nvPr/>
          </p:nvGrpSpPr>
          <p:grpSpPr>
            <a:xfrm>
              <a:off x="618279" y="670644"/>
              <a:ext cx="9516110" cy="240665"/>
              <a:chOff x="995" y="1035"/>
              <a:chExt cx="14986" cy="379"/>
            </a:xfrm>
          </p:grpSpPr>
          <p:pic>
            <p:nvPicPr>
              <p:cNvPr id="6" name="picture 80">
                <a:extLst>
                  <a:ext uri="{FF2B5EF4-FFF2-40B4-BE49-F238E27FC236}">
                    <a16:creationId xmlns:a16="http://schemas.microsoft.com/office/drawing/2014/main" id="{7A88F5F8-BDC6-EC96-387A-1FEE964540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21600000">
                <a:off x="995" y="1035"/>
                <a:ext cx="14986" cy="45"/>
              </a:xfrm>
              <a:prstGeom prst="rect">
                <a:avLst/>
              </a:prstGeom>
            </p:spPr>
          </p:pic>
          <p:pic>
            <p:nvPicPr>
              <p:cNvPr id="7" name="picture 82">
                <a:extLst>
                  <a:ext uri="{FF2B5EF4-FFF2-40B4-BE49-F238E27FC236}">
                    <a16:creationId xmlns:a16="http://schemas.microsoft.com/office/drawing/2014/main" id="{67BA39C4-BF3E-528B-E2E7-C7BD45BE2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21600000">
                <a:off x="2425" y="1042"/>
                <a:ext cx="4693" cy="372"/>
              </a:xfrm>
              <a:prstGeom prst="rect">
                <a:avLst/>
              </a:prstGeom>
            </p:spPr>
          </p:pic>
        </p:grpSp>
      </p:grpSp>
      <p:pic>
        <p:nvPicPr>
          <p:cNvPr id="34" name="picture 130">
            <a:extLst>
              <a:ext uri="{FF2B5EF4-FFF2-40B4-BE49-F238E27FC236}">
                <a16:creationId xmlns:a16="http://schemas.microsoft.com/office/drawing/2014/main" id="{BE5DB5B9-1301-7F2C-EDF1-9A9C9DB9B3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250452" y="198331"/>
            <a:ext cx="412652" cy="349123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8CECD701-7C60-4017-AE2E-8DE6B2E428D6}"/>
              </a:ext>
            </a:extLst>
          </p:cNvPr>
          <p:cNvGrpSpPr/>
          <p:nvPr/>
        </p:nvGrpSpPr>
        <p:grpSpPr>
          <a:xfrm>
            <a:off x="736282" y="6543932"/>
            <a:ext cx="10782935" cy="119380"/>
            <a:chOff x="1101" y="10278"/>
            <a:chExt cx="16981" cy="188"/>
          </a:xfrm>
        </p:grpSpPr>
        <p:pic>
          <p:nvPicPr>
            <p:cNvPr id="18" name="picture 138">
              <a:extLst>
                <a:ext uri="{FF2B5EF4-FFF2-40B4-BE49-F238E27FC236}">
                  <a16:creationId xmlns:a16="http://schemas.microsoft.com/office/drawing/2014/main" id="{A206A9BA-5895-B3DA-3C35-21C12E0A1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2036" t="22497" r="-1" b="813"/>
            <a:stretch>
              <a:fillRect/>
            </a:stretch>
          </p:blipFill>
          <p:spPr>
            <a:xfrm>
              <a:off x="13148" y="10278"/>
              <a:ext cx="4934" cy="188"/>
            </a:xfrm>
            <a:prstGeom prst="rect">
              <a:avLst/>
            </a:prstGeom>
          </p:spPr>
        </p:pic>
        <p:pic>
          <p:nvPicPr>
            <p:cNvPr id="19" name="picture 146">
              <a:extLst>
                <a:ext uri="{FF2B5EF4-FFF2-40B4-BE49-F238E27FC236}">
                  <a16:creationId xmlns:a16="http://schemas.microsoft.com/office/drawing/2014/main" id="{4CFE1386-1DB5-3E73-3E05-F1F19EA68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15329" b="-42424"/>
            <a:stretch>
              <a:fillRect/>
            </a:stretch>
          </p:blipFill>
          <p:spPr>
            <a:xfrm>
              <a:off x="1101" y="10278"/>
              <a:ext cx="4357" cy="188"/>
            </a:xfrm>
            <a:prstGeom prst="rect">
              <a:avLst/>
            </a:prstGeom>
          </p:spPr>
        </p:pic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B0B3F304-6931-5A7A-B6FF-7F2C8DB62F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0" y="-8256"/>
            <a:ext cx="12141412" cy="6857999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83B3796D-AFC8-4E24-0E76-E5F7A4996E82}"/>
              </a:ext>
            </a:extLst>
          </p:cNvPr>
          <p:cNvGrpSpPr/>
          <p:nvPr/>
        </p:nvGrpSpPr>
        <p:grpSpPr>
          <a:xfrm>
            <a:off x="512869" y="240462"/>
            <a:ext cx="9516110" cy="638175"/>
            <a:chOff x="995" y="393"/>
            <a:chExt cx="14986" cy="1005"/>
          </a:xfrm>
        </p:grpSpPr>
        <p:pic>
          <p:nvPicPr>
            <p:cNvPr id="17" name="picture 80">
              <a:extLst>
                <a:ext uri="{FF2B5EF4-FFF2-40B4-BE49-F238E27FC236}">
                  <a16:creationId xmlns:a16="http://schemas.microsoft.com/office/drawing/2014/main" id="{64255D9F-4AC7-9F05-D7E8-0BBB8F157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995" y="1035"/>
              <a:ext cx="14986" cy="45"/>
            </a:xfrm>
            <a:prstGeom prst="rect">
              <a:avLst/>
            </a:prstGeom>
          </p:spPr>
        </p:pic>
        <p:sp>
          <p:nvSpPr>
            <p:cNvPr id="26" name="textbox 86">
              <a:extLst>
                <a:ext uri="{FF2B5EF4-FFF2-40B4-BE49-F238E27FC236}">
                  <a16:creationId xmlns:a16="http://schemas.microsoft.com/office/drawing/2014/main" id="{329E7037-9D87-4800-5CB1-621CCBBFA29B}"/>
                </a:ext>
              </a:extLst>
            </p:cNvPr>
            <p:cNvSpPr/>
            <p:nvPr/>
          </p:nvSpPr>
          <p:spPr>
            <a:xfrm>
              <a:off x="1147" y="393"/>
              <a:ext cx="4391" cy="398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eaLnBrk="0">
                <a:lnSpc>
                  <a:spcPct val="9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2100" b="1" kern="0" spc="10" dirty="0" err="1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实践导向</a:t>
              </a:r>
              <a:r>
                <a:rPr sz="2100" b="1" kern="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2100" b="1" kern="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核心技术</a:t>
              </a:r>
              <a:r>
                <a:rPr lang="en-US" altLang="zh-CN" sz="2100" b="1" kern="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sz="2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88">
              <a:extLst>
                <a:ext uri="{FF2B5EF4-FFF2-40B4-BE49-F238E27FC236}">
                  <a16:creationId xmlns:a16="http://schemas.microsoft.com/office/drawing/2014/main" id="{F2383A28-3640-3E7E-BE80-1C6ADE26A91D}"/>
                </a:ext>
              </a:extLst>
            </p:cNvPr>
            <p:cNvSpPr/>
            <p:nvPr/>
          </p:nvSpPr>
          <p:spPr>
            <a:xfrm>
              <a:off x="1141" y="1084"/>
              <a:ext cx="4649" cy="3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eaLnBrk="0">
                <a:lnSpc>
                  <a:spcPct val="95000"/>
                </a:lnSpc>
              </a:pPr>
              <a:r>
                <a:rPr sz="12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Practice-oriented</a:t>
              </a:r>
              <a:r>
                <a:rPr sz="1200" kern="0" spc="1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 </a:t>
              </a:r>
              <a:r>
                <a:rPr lang="en-US" altLang="zh-CN" sz="12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Core Technology 1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17C4676E-6F39-44D7-FAE2-791C5693B808}"/>
              </a:ext>
            </a:extLst>
          </p:cNvPr>
          <p:cNvSpPr/>
          <p:nvPr/>
        </p:nvSpPr>
        <p:spPr>
          <a:xfrm>
            <a:off x="4016047" y="172306"/>
            <a:ext cx="326243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学生多维画像建模技术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8A2EA3CC-2C7B-881A-684A-B714D53E875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727" y="6298203"/>
            <a:ext cx="5097446" cy="491458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E9D56FB4-64D2-C7F0-97AA-215CFA7F284C}"/>
              </a:ext>
            </a:extLst>
          </p:cNvPr>
          <p:cNvSpPr/>
          <p:nvPr/>
        </p:nvSpPr>
        <p:spPr>
          <a:xfrm>
            <a:off x="351131" y="1310993"/>
            <a:ext cx="3453953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思源黑体 CN Heavy" panose="020B0A00000000000000" pitchFamily="34" charset="-122"/>
                <a:sym typeface="微软雅黑" panose="020B0503020204020204" charset="-122"/>
              </a:rPr>
              <a:t>模块</a:t>
            </a:r>
            <a:r>
              <a:rPr lang="en-US" altLang="zh-CN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思源黑体 CN Heavy" panose="020B0A00000000000000" pitchFamily="34" charset="-122"/>
                <a:sym typeface="微软雅黑" panose="020B0503020204020204" charset="-122"/>
              </a:rPr>
              <a:t>1</a:t>
            </a:r>
            <a:r>
              <a: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思源黑体 CN Heavy" panose="020B0A00000000000000" pitchFamily="34" charset="-122"/>
                <a:sym typeface="微软雅黑" panose="020B0503020204020204" charset="-122"/>
              </a:rPr>
              <a:t>：</a:t>
            </a:r>
            <a:r>
              <a:rPr lang="zh-CN" altLang="en-US" sz="20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稳健前处理</a:t>
            </a:r>
            <a:endParaRPr lang="en-US" altLang="zh-CN" sz="2000" b="1" dirty="0">
              <a:solidFill>
                <a:srgbClr val="FFFFFF"/>
              </a:solidFill>
              <a:ea typeface="思源黑体 CN Heavy" panose="020B0A00000000000000" pitchFamily="34" charset="-122"/>
              <a:sym typeface="微软雅黑" panose="020B050302020402020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D30AC48-7199-1209-9597-B7F5841358BE}"/>
              </a:ext>
            </a:extLst>
          </p:cNvPr>
          <p:cNvSpPr/>
          <p:nvPr/>
        </p:nvSpPr>
        <p:spPr>
          <a:xfrm>
            <a:off x="512869" y="5573588"/>
            <a:ext cx="1723549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原始特征空间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8942A7B-0E7B-2308-1C46-3ED2A8D6958F}"/>
              </a:ext>
            </a:extLst>
          </p:cNvPr>
          <p:cNvSpPr/>
          <p:nvPr/>
        </p:nvSpPr>
        <p:spPr>
          <a:xfrm>
            <a:off x="3557694" y="3899536"/>
            <a:ext cx="595035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学业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5B6720D-5FF3-F24E-FC1E-385D7E42E8FE}"/>
              </a:ext>
            </a:extLst>
          </p:cNvPr>
          <p:cNvSpPr/>
          <p:nvPr/>
        </p:nvSpPr>
        <p:spPr>
          <a:xfrm>
            <a:off x="7477064" y="2546896"/>
            <a:ext cx="1818126" cy="2769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输出：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大模式概率分布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C7D7348-9A85-F6BD-28CC-B0D98FE1D1E5}"/>
              </a:ext>
            </a:extLst>
          </p:cNvPr>
          <p:cNvSpPr/>
          <p:nvPr/>
        </p:nvSpPr>
        <p:spPr>
          <a:xfrm>
            <a:off x="9793705" y="2653626"/>
            <a:ext cx="2189748" cy="738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dirty="0">
                <a:solidFill>
                  <a:srgbClr val="FFFFFF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比硬标签更符合教育教育场景的连续谱，能识别边界学生、降低误判。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7D37D31-E549-CE52-DC8F-5C66B5CD292F}"/>
              </a:ext>
            </a:extLst>
          </p:cNvPr>
          <p:cNvSpPr/>
          <p:nvPr/>
        </p:nvSpPr>
        <p:spPr>
          <a:xfrm>
            <a:off x="5102942" y="1280440"/>
            <a:ext cx="3740191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思源黑体 CN Heavy" panose="020B0A00000000000000" pitchFamily="34" charset="-122"/>
                <a:sym typeface="微软雅黑" panose="020B0503020204020204" charset="-122"/>
              </a:rPr>
              <a:t>模块</a:t>
            </a:r>
            <a:r>
              <a:rPr lang="en-US" altLang="zh-CN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思源黑体 CN Heavy" panose="020B0A00000000000000" pitchFamily="34" charset="-122"/>
                <a:sym typeface="微软雅黑" panose="020B0503020204020204" charset="-122"/>
              </a:rPr>
              <a:t>2</a:t>
            </a:r>
            <a:r>
              <a:rPr lang="zh-CN" alt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思源黑体 CN Heavy" panose="020B0A00000000000000" pitchFamily="34" charset="-122"/>
                <a:sym typeface="微软雅黑" panose="020B0503020204020204" charset="-122"/>
              </a:rPr>
              <a:t>：</a:t>
            </a:r>
            <a:r>
              <a:rPr kumimoji="0" lang="zh-CN" altLang="en-US" sz="2000" b="1" i="0" u="none" strike="noStrike" kern="1200" cap="none" spc="0" normalizeH="0" baseline="0" dirty="0">
                <a:solidFill>
                  <a:srgbClr val="FFFFFF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两层软聚类建模架构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824D63A-03C6-5AC4-0377-CB5737BA2BA7}"/>
              </a:ext>
            </a:extLst>
          </p:cNvPr>
          <p:cNvSpPr/>
          <p:nvPr/>
        </p:nvSpPr>
        <p:spPr>
          <a:xfrm>
            <a:off x="9793705" y="3872231"/>
            <a:ext cx="2189748" cy="523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Model</a:t>
            </a:r>
            <a:r>
              <a:rPr lang="zh-CN" altLang="en-US" sz="14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进行主要划分，</a:t>
            </a:r>
            <a:r>
              <a:rPr lang="en-US" altLang="zh-CN" sz="14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Subtype</a:t>
            </a:r>
            <a:r>
              <a:rPr lang="zh-CN" altLang="en-US" sz="14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再进行细节划分</a:t>
            </a:r>
            <a:endParaRPr lang="en-US" altLang="zh-CN" sz="1400" b="1" dirty="0">
              <a:solidFill>
                <a:srgbClr val="FFFFFF"/>
              </a:solidFill>
              <a:ea typeface="思源黑体 CN Heavy" panose="020B0A00000000000000" pitchFamily="34" charset="-122"/>
              <a:sym typeface="微软雅黑" panose="020B050302020402020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C09F84E-864A-29F1-D774-CC9CF81DFBE3}"/>
              </a:ext>
            </a:extLst>
          </p:cNvPr>
          <p:cNvSpPr txBox="1"/>
          <p:nvPr/>
        </p:nvSpPr>
        <p:spPr>
          <a:xfrm>
            <a:off x="9793705" y="2253527"/>
            <a:ext cx="1861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b="1" dirty="0">
                <a:gradFill>
                  <a:gsLst>
                    <a:gs pos="33000">
                      <a:srgbClr val="FFF8B9"/>
                    </a:gs>
                    <a:gs pos="51000">
                      <a:srgbClr val="FFF177"/>
                    </a:gs>
                    <a:gs pos="74000">
                      <a:srgbClr val="FCC55E"/>
                    </a:gs>
                  </a:gsLst>
                  <a:lin ang="5400000" scaled="0"/>
                </a:gradFill>
                <a:ea typeface="思源黑体 CN Heavy" panose="020B0A00000000000000" pitchFamily="34" charset="-122"/>
                <a:sym typeface="微软雅黑" panose="020B0503020204020204" charset="-122"/>
              </a:rPr>
              <a:t>软聚类概率输出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3831284-4703-B822-37EF-66E6C8805E7E}"/>
              </a:ext>
            </a:extLst>
          </p:cNvPr>
          <p:cNvSpPr txBox="1"/>
          <p:nvPr/>
        </p:nvSpPr>
        <p:spPr>
          <a:xfrm>
            <a:off x="9793705" y="3458446"/>
            <a:ext cx="1861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b="1" dirty="0">
                <a:gradFill>
                  <a:gsLst>
                    <a:gs pos="33000">
                      <a:srgbClr val="FFF8B9"/>
                    </a:gs>
                    <a:gs pos="51000">
                      <a:srgbClr val="FFF177"/>
                    </a:gs>
                    <a:gs pos="74000">
                      <a:srgbClr val="FCC55E"/>
                    </a:gs>
                  </a:gsLst>
                  <a:lin ang="5400000" scaled="0"/>
                </a:gradFill>
                <a:ea typeface="思源黑体 CN Heavy" panose="020B0A00000000000000" pitchFamily="34" charset="-122"/>
                <a:sym typeface="微软雅黑" panose="020B0503020204020204" charset="-122"/>
              </a:rPr>
              <a:t>两层结构可解释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04DBF8F-FFE5-46E6-C69C-DB655E7CDB3B}"/>
              </a:ext>
            </a:extLst>
          </p:cNvPr>
          <p:cNvSpPr txBox="1"/>
          <p:nvPr/>
        </p:nvSpPr>
        <p:spPr>
          <a:xfrm>
            <a:off x="9786185" y="4535788"/>
            <a:ext cx="1861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gradFill>
                  <a:gsLst>
                    <a:gs pos="33000">
                      <a:srgbClr val="FFF8B9"/>
                    </a:gs>
                    <a:gs pos="51000">
                      <a:srgbClr val="FFF177"/>
                    </a:gs>
                    <a:gs pos="74000">
                      <a:srgbClr val="FCC55E"/>
                    </a:gs>
                  </a:gsLst>
                  <a:lin ang="5400000" scaled="0"/>
                </a:gradFill>
                <a:ea typeface="思源黑体 CN Heavy" panose="020B0A00000000000000" pitchFamily="34" charset="-122"/>
                <a:sym typeface="微软雅黑" panose="020B0503020204020204" charset="-122"/>
              </a:rPr>
              <a:t>充分的前处理</a:t>
            </a:r>
            <a:endParaRPr lang="zh-CN" altLang="en-US" sz="1800" b="1" dirty="0">
              <a:gradFill>
                <a:gsLst>
                  <a:gs pos="33000">
                    <a:srgbClr val="FFF8B9"/>
                  </a:gs>
                  <a:gs pos="51000">
                    <a:srgbClr val="FFF177"/>
                  </a:gs>
                  <a:gs pos="74000">
                    <a:srgbClr val="FCC55E"/>
                  </a:gs>
                </a:gsLst>
                <a:lin ang="5400000" scaled="0"/>
              </a:gradFill>
              <a:ea typeface="思源黑体 CN Heavy" panose="020B0A00000000000000" pitchFamily="34" charset="-122"/>
              <a:sym typeface="微软雅黑" panose="020B050302020402020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8F092CF-AAAD-B0A5-F1E4-CEA94443D726}"/>
              </a:ext>
            </a:extLst>
          </p:cNvPr>
          <p:cNvSpPr/>
          <p:nvPr/>
        </p:nvSpPr>
        <p:spPr>
          <a:xfrm>
            <a:off x="9793705" y="4917867"/>
            <a:ext cx="2189748" cy="9541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通过缺失指示、稳健缩放、去冗余与方差均衡，避免模型被少数指标绑架，模式差异更“全面”。</a:t>
            </a:r>
            <a:endParaRPr lang="en-US" altLang="zh-CN" sz="1400" b="1" dirty="0">
              <a:solidFill>
                <a:srgbClr val="FFFFFF"/>
              </a:solidFill>
              <a:ea typeface="思源黑体 CN Heavy" panose="020B0A00000000000000" pitchFamily="34" charset="-122"/>
              <a:sym typeface="微软雅黑" panose="020B050302020402020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B8DED88-E73A-EF3C-4CEB-E70D30312F21}"/>
              </a:ext>
            </a:extLst>
          </p:cNvPr>
          <p:cNvSpPr/>
          <p:nvPr/>
        </p:nvSpPr>
        <p:spPr>
          <a:xfrm>
            <a:off x="5102942" y="1607826"/>
            <a:ext cx="3698895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（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Mode+Subtype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）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89AA09F-F922-2667-C6DD-BC42BC58CDA0}"/>
              </a:ext>
            </a:extLst>
          </p:cNvPr>
          <p:cNvSpPr/>
          <p:nvPr/>
        </p:nvSpPr>
        <p:spPr>
          <a:xfrm>
            <a:off x="7387648" y="4311104"/>
            <a:ext cx="2066591" cy="2769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输出：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32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个细分子类及证据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4D22974-B9CF-E81C-4C36-73175B50DE85}"/>
              </a:ext>
            </a:extLst>
          </p:cNvPr>
          <p:cNvSpPr/>
          <p:nvPr/>
        </p:nvSpPr>
        <p:spPr>
          <a:xfrm>
            <a:off x="2718838" y="4288800"/>
            <a:ext cx="595035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rgbClr val="FFFFFF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微软雅黑" panose="020B0503020204020204" charset="-122"/>
              </a:rPr>
              <a:t>出勤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A267ED5-E1B3-50ED-39DF-75488DDD79DB}"/>
              </a:ext>
            </a:extLst>
          </p:cNvPr>
          <p:cNvSpPr/>
          <p:nvPr/>
        </p:nvSpPr>
        <p:spPr>
          <a:xfrm>
            <a:off x="4273745" y="4311104"/>
            <a:ext cx="595035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作业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632A30D-B3D7-2D80-5753-7E5C4474D842}"/>
              </a:ext>
            </a:extLst>
          </p:cNvPr>
          <p:cNvSpPr/>
          <p:nvPr/>
        </p:nvSpPr>
        <p:spPr>
          <a:xfrm>
            <a:off x="2718838" y="5143658"/>
            <a:ext cx="595035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rgbClr val="FFFFFF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微软雅黑" panose="020B0503020204020204" charset="-122"/>
              </a:rPr>
              <a:t>体能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4535927-33FE-542B-A24A-F0E8C858084B}"/>
              </a:ext>
            </a:extLst>
          </p:cNvPr>
          <p:cNvSpPr/>
          <p:nvPr/>
        </p:nvSpPr>
        <p:spPr>
          <a:xfrm>
            <a:off x="3534727" y="5604366"/>
            <a:ext cx="595035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发展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1D42D3E-A285-A17E-F9CE-D0BE2911A771}"/>
              </a:ext>
            </a:extLst>
          </p:cNvPr>
          <p:cNvSpPr/>
          <p:nvPr/>
        </p:nvSpPr>
        <p:spPr>
          <a:xfrm>
            <a:off x="4302920" y="5112248"/>
            <a:ext cx="595035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线上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C0EA167-B11F-B20D-4306-B888CC7DB583}"/>
              </a:ext>
            </a:extLst>
          </p:cNvPr>
          <p:cNvSpPr txBox="1"/>
          <p:nvPr/>
        </p:nvSpPr>
        <p:spPr>
          <a:xfrm>
            <a:off x="1949239" y="4720454"/>
            <a:ext cx="748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9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特征压缩</a:t>
            </a:r>
            <a:endParaRPr lang="en-US" altLang="zh-CN" sz="900" b="1" dirty="0">
              <a:solidFill>
                <a:srgbClr val="FFFFFF"/>
              </a:solidFill>
              <a:ea typeface="思源黑体 CN Heavy" panose="020B0A00000000000000" pitchFamily="34" charset="-122"/>
              <a:sym typeface="微软雅黑" panose="020B0503020204020204" charset="-122"/>
            </a:endParaRPr>
          </a:p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9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指标对齐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675DFC2-3CBE-7FB2-CC33-AF2735F4A2F1}"/>
              </a:ext>
            </a:extLst>
          </p:cNvPr>
          <p:cNvSpPr txBox="1"/>
          <p:nvPr/>
        </p:nvSpPr>
        <p:spPr>
          <a:xfrm>
            <a:off x="343432" y="2210917"/>
            <a:ext cx="1980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gradFill>
                  <a:gsLst>
                    <a:gs pos="33000">
                      <a:srgbClr val="FFF8B9"/>
                    </a:gs>
                    <a:gs pos="51000">
                      <a:srgbClr val="FFF177"/>
                    </a:gs>
                    <a:gs pos="74000">
                      <a:srgbClr val="FCC55E"/>
                    </a:gs>
                  </a:gsLst>
                  <a:lin ang="5400000" scaled="0"/>
                </a:gradFill>
                <a:ea typeface="思源黑体 CN Heavy" panose="020B0A00000000000000" pitchFamily="34" charset="-122"/>
                <a:sym typeface="微软雅黑" panose="020B0503020204020204" charset="-122"/>
              </a:rPr>
              <a:t>稳健前处理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CB5AD1E-2A72-3072-127B-7DADE702E36B}"/>
              </a:ext>
            </a:extLst>
          </p:cNvPr>
          <p:cNvSpPr txBox="1"/>
          <p:nvPr/>
        </p:nvSpPr>
        <p:spPr>
          <a:xfrm>
            <a:off x="5029201" y="2186751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gradFill>
                  <a:gsLst>
                    <a:gs pos="33000">
                      <a:srgbClr val="FFF8B9"/>
                    </a:gs>
                    <a:gs pos="51000">
                      <a:srgbClr val="FFF177"/>
                    </a:gs>
                    <a:gs pos="74000">
                      <a:srgbClr val="FCC55E"/>
                    </a:gs>
                  </a:gsLst>
                  <a:lin ang="5400000" scaled="0"/>
                </a:gradFill>
                <a:ea typeface="思源黑体 CN Heavy" panose="020B0A00000000000000" pitchFamily="34" charset="-122"/>
                <a:sym typeface="微软雅黑" panose="020B0503020204020204" charset="-122"/>
              </a:rPr>
              <a:t>Mode </a:t>
            </a:r>
            <a:r>
              <a:rPr lang="zh-CN" altLang="en-US" b="1" dirty="0">
                <a:gradFill>
                  <a:gsLst>
                    <a:gs pos="33000">
                      <a:srgbClr val="FFF8B9"/>
                    </a:gs>
                    <a:gs pos="51000">
                      <a:srgbClr val="FFF177"/>
                    </a:gs>
                    <a:gs pos="74000">
                      <a:srgbClr val="FCC55E"/>
                    </a:gs>
                  </a:gsLst>
                  <a:lin ang="5400000" scaled="0"/>
                </a:gradFill>
                <a:ea typeface="思源黑体 CN Heavy" panose="020B0A00000000000000" pitchFamily="34" charset="-122"/>
                <a:sym typeface="微软雅黑" panose="020B0503020204020204" charset="-122"/>
              </a:rPr>
              <a:t>层：</a:t>
            </a:r>
            <a:r>
              <a:rPr lang="en-US" altLang="zh-CN" sz="16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6</a:t>
            </a:r>
            <a:r>
              <a:rPr lang="zh-CN" altLang="en-US" sz="16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维稳定空间 </a:t>
            </a:r>
            <a:r>
              <a:rPr lang="en-US" altLang="zh-CN" sz="16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GMM </a:t>
            </a:r>
            <a:r>
              <a:rPr lang="zh-CN" altLang="en-US" sz="16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软聚类</a:t>
            </a:r>
            <a:endParaRPr lang="zh-CN" altLang="en-US" sz="1200" b="1" dirty="0">
              <a:solidFill>
                <a:srgbClr val="FFFFFF"/>
              </a:solidFill>
              <a:ea typeface="思源黑体 CN Heavy" panose="020B0A00000000000000" pitchFamily="34" charset="-122"/>
              <a:sym typeface="微软雅黑" panose="020B050302020402020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AB8D133-1AAD-F479-E123-AF28F1E8939A}"/>
              </a:ext>
            </a:extLst>
          </p:cNvPr>
          <p:cNvSpPr txBox="1"/>
          <p:nvPr/>
        </p:nvSpPr>
        <p:spPr>
          <a:xfrm>
            <a:off x="4997377" y="4288800"/>
            <a:ext cx="191324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gradFill>
                  <a:gsLst>
                    <a:gs pos="33000">
                      <a:srgbClr val="FFF8B9"/>
                    </a:gs>
                    <a:gs pos="51000">
                      <a:srgbClr val="FFF177"/>
                    </a:gs>
                    <a:gs pos="74000">
                      <a:srgbClr val="FCC55E"/>
                    </a:gs>
                  </a:gsLst>
                  <a:lin ang="5400000" scaled="0"/>
                </a:gradFill>
                <a:ea typeface="思源黑体 CN Heavy" panose="020B0A00000000000000" pitchFamily="34" charset="-122"/>
                <a:sym typeface="微软雅黑" panose="020B0503020204020204" charset="-122"/>
              </a:rPr>
              <a:t>Subtype</a:t>
            </a:r>
            <a:r>
              <a:rPr lang="zh-CN" altLang="en-US" b="1" dirty="0">
                <a:gradFill>
                  <a:gsLst>
                    <a:gs pos="33000">
                      <a:srgbClr val="FFF8B9"/>
                    </a:gs>
                    <a:gs pos="51000">
                      <a:srgbClr val="FFF177"/>
                    </a:gs>
                    <a:gs pos="74000">
                      <a:srgbClr val="FCC55E"/>
                    </a:gs>
                  </a:gsLst>
                  <a:lin ang="5400000" scaled="0"/>
                </a:gradFill>
                <a:ea typeface="思源黑体 CN Heavy" panose="020B0A00000000000000" pitchFamily="34" charset="-122"/>
                <a:sym typeface="微软雅黑" panose="020B0503020204020204" charset="-122"/>
              </a:rPr>
              <a:t>层：</a:t>
            </a:r>
            <a:endParaRPr lang="en-US" altLang="zh-CN" b="1" dirty="0">
              <a:gradFill>
                <a:gsLst>
                  <a:gs pos="33000">
                    <a:srgbClr val="FFF8B9"/>
                  </a:gs>
                  <a:gs pos="51000">
                    <a:srgbClr val="FFF177"/>
                  </a:gs>
                  <a:gs pos="74000">
                    <a:srgbClr val="FCC55E"/>
                  </a:gs>
                </a:gsLst>
                <a:lin ang="5400000" scaled="0"/>
              </a:gradFill>
              <a:ea typeface="思源黑体 CN Heavy" panose="020B0A00000000000000" pitchFamily="34" charset="-122"/>
              <a:sym typeface="微软雅黑" panose="020B0503020204020204" charset="-122"/>
            </a:endParaRPr>
          </a:p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每个 </a:t>
            </a:r>
            <a:r>
              <a:rPr lang="en-US" altLang="zh-CN" sz="16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mode </a:t>
            </a:r>
            <a:r>
              <a:rPr lang="zh-CN" altLang="en-US" sz="16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内</a:t>
            </a:r>
            <a:endParaRPr lang="en-US" altLang="zh-CN" sz="1600" b="1" dirty="0">
              <a:solidFill>
                <a:srgbClr val="FFFFFF"/>
              </a:solidFill>
              <a:ea typeface="思源黑体 CN Heavy" panose="020B0A00000000000000" pitchFamily="34" charset="-122"/>
              <a:sym typeface="微软雅黑" panose="020B0503020204020204" charset="-122"/>
            </a:endParaRPr>
          </a:p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再做 </a:t>
            </a:r>
            <a:r>
              <a:rPr lang="en-US" altLang="zh-CN" sz="16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GMM </a:t>
            </a:r>
            <a:r>
              <a:rPr lang="zh-CN" altLang="en-US" sz="16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细分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7257BE1-D27D-B3DE-C6E4-E60E7FF779DC}"/>
              </a:ext>
            </a:extLst>
          </p:cNvPr>
          <p:cNvSpPr txBox="1"/>
          <p:nvPr/>
        </p:nvSpPr>
        <p:spPr>
          <a:xfrm>
            <a:off x="366260" y="2582704"/>
            <a:ext cx="41564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1200" b="1" dirty="0">
                <a:gradFill>
                  <a:gsLst>
                    <a:gs pos="33000">
                      <a:srgbClr val="FFF8B9"/>
                    </a:gs>
                    <a:gs pos="51000">
                      <a:srgbClr val="FFF177"/>
                    </a:gs>
                    <a:gs pos="74000">
                      <a:srgbClr val="FCC55E"/>
                    </a:gs>
                  </a:gsLst>
                  <a:lin ang="5400000" scaled="0"/>
                </a:gradFill>
                <a:ea typeface="思源黑体 CN Heavy" panose="020B0A00000000000000" pitchFamily="34" charset="-122"/>
                <a:sym typeface="微软雅黑" panose="020B0503020204020204" charset="-122"/>
              </a:rPr>
              <a:t>EDA</a:t>
            </a:r>
            <a:r>
              <a:rPr lang="zh-CN" altLang="en-US" sz="1200" b="1" dirty="0">
                <a:gradFill>
                  <a:gsLst>
                    <a:gs pos="33000">
                      <a:srgbClr val="FFF8B9"/>
                    </a:gs>
                    <a:gs pos="51000">
                      <a:srgbClr val="FFF177"/>
                    </a:gs>
                    <a:gs pos="74000">
                      <a:srgbClr val="FCC55E"/>
                    </a:gs>
                  </a:gsLst>
                  <a:lin ang="5400000" scaled="0"/>
                </a:gradFill>
                <a:ea typeface="思源黑体 CN Heavy" panose="020B0A00000000000000" pitchFamily="34" charset="-122"/>
                <a:sym typeface="微软雅黑" panose="020B0503020204020204" charset="-122"/>
              </a:rPr>
              <a:t>探索性数据分析</a:t>
            </a:r>
            <a:endParaRPr lang="en-US" altLang="zh-CN" sz="1200" b="1" dirty="0">
              <a:gradFill>
                <a:gsLst>
                  <a:gs pos="33000">
                    <a:srgbClr val="FFF8B9"/>
                  </a:gs>
                  <a:gs pos="51000">
                    <a:srgbClr val="FFF177"/>
                  </a:gs>
                  <a:gs pos="74000">
                    <a:srgbClr val="FCC55E"/>
                  </a:gs>
                </a:gsLst>
                <a:lin ang="5400000" scaled="0"/>
              </a:gradFill>
              <a:ea typeface="思源黑体 CN Heavy" panose="020B0A00000000000000" pitchFamily="34" charset="-122"/>
              <a:sym typeface="微软雅黑" panose="020B0503020204020204" charset="-122"/>
            </a:endParaRPr>
          </a:p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明确特征存在长尾与冗余，确定最优</a:t>
            </a:r>
            <a:r>
              <a:rPr lang="en-US" altLang="zh-CN" sz="12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K</a:t>
            </a:r>
            <a:r>
              <a:rPr lang="zh-CN" altLang="en-US" sz="12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值</a:t>
            </a:r>
            <a:endParaRPr lang="en-US" altLang="zh-CN" sz="1200" b="1" dirty="0">
              <a:solidFill>
                <a:srgbClr val="FFFFFF"/>
              </a:solidFill>
              <a:ea typeface="思源黑体 CN Heavy" panose="020B0A00000000000000" pitchFamily="34" charset="-122"/>
              <a:sym typeface="微软雅黑" panose="020B0503020204020204" charset="-122"/>
            </a:endParaRPr>
          </a:p>
          <a:p>
            <a:pPr marL="171450" marR="0" lvl="0" indent="-17145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b="1" dirty="0">
                <a:gradFill>
                  <a:gsLst>
                    <a:gs pos="33000">
                      <a:srgbClr val="FFF8B9"/>
                    </a:gs>
                    <a:gs pos="51000">
                      <a:srgbClr val="FFF177"/>
                    </a:gs>
                    <a:gs pos="74000">
                      <a:srgbClr val="FCC55E"/>
                    </a:gs>
                  </a:gsLst>
                  <a:lin ang="5400000" scaled="0"/>
                </a:gradFill>
                <a:ea typeface="思源黑体 CN Heavy" panose="020B0A00000000000000" pitchFamily="34" charset="-122"/>
                <a:sym typeface="微软雅黑" panose="020B0503020204020204" charset="-122"/>
              </a:rPr>
              <a:t>方差均衡</a:t>
            </a:r>
            <a:endParaRPr lang="en-US" altLang="zh-CN" sz="1200" b="1" dirty="0">
              <a:gradFill>
                <a:gsLst>
                  <a:gs pos="33000">
                    <a:srgbClr val="FFF8B9"/>
                  </a:gs>
                  <a:gs pos="51000">
                    <a:srgbClr val="FFF177"/>
                  </a:gs>
                  <a:gs pos="74000">
                    <a:srgbClr val="FCC55E"/>
                  </a:gs>
                </a:gsLst>
                <a:lin ang="5400000" scaled="0"/>
              </a:gradFill>
              <a:ea typeface="思源黑体 CN Heavy" panose="020B0A00000000000000" pitchFamily="34" charset="-122"/>
              <a:sym typeface="微软雅黑" panose="020B0503020204020204" charset="-122"/>
            </a:endParaRPr>
          </a:p>
          <a:p>
            <a:pPr marL="0" marR="0" lvl="0" indent="0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数据更符合多维结构（减少被少数指标支配的风险）</a:t>
            </a:r>
            <a:endParaRPr lang="en-US" altLang="zh-CN" sz="1200" b="1" dirty="0">
              <a:solidFill>
                <a:srgbClr val="FFFFFF"/>
              </a:solidFill>
              <a:ea typeface="思源黑体 CN Heavy" panose="020B0A00000000000000" pitchFamily="34" charset="-122"/>
              <a:sym typeface="微软雅黑" panose="020B0503020204020204" charset="-122"/>
            </a:endParaRPr>
          </a:p>
          <a:p>
            <a:pPr marL="171450" indent="-171450" defTabSz="1219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200" b="1" dirty="0">
                <a:gradFill>
                  <a:gsLst>
                    <a:gs pos="33000">
                      <a:srgbClr val="FFF8B9"/>
                    </a:gs>
                    <a:gs pos="51000">
                      <a:srgbClr val="FFF177"/>
                    </a:gs>
                    <a:gs pos="74000">
                      <a:srgbClr val="FCC55E"/>
                    </a:gs>
                  </a:gsLst>
                  <a:lin ang="5400000" scaled="0"/>
                </a:gradFill>
                <a:ea typeface="思源黑体 CN Heavy" panose="020B0A00000000000000" pitchFamily="34" charset="-122"/>
                <a:sym typeface="微软雅黑" panose="020B0503020204020204" charset="-122"/>
              </a:rPr>
              <a:t>PCA</a:t>
            </a:r>
            <a:r>
              <a:rPr lang="zh-CN" altLang="en-US" sz="1200" b="1" dirty="0">
                <a:gradFill>
                  <a:gsLst>
                    <a:gs pos="33000">
                      <a:srgbClr val="FFF8B9"/>
                    </a:gs>
                    <a:gs pos="51000">
                      <a:srgbClr val="FFF177"/>
                    </a:gs>
                    <a:gs pos="74000">
                      <a:srgbClr val="FCC55E"/>
                    </a:gs>
                  </a:gsLst>
                  <a:lin ang="5400000" scaled="0"/>
                </a:gradFill>
                <a:ea typeface="思源黑体 CN Heavy" panose="020B0A00000000000000" pitchFamily="34" charset="-122"/>
                <a:sym typeface="微软雅黑" panose="020B0503020204020204" charset="-122"/>
              </a:rPr>
              <a:t>主成分分析</a:t>
            </a:r>
            <a:endParaRPr lang="en-US" altLang="zh-CN" sz="1200" b="1" dirty="0">
              <a:gradFill>
                <a:gsLst>
                  <a:gs pos="33000">
                    <a:srgbClr val="FFF8B9"/>
                  </a:gs>
                  <a:gs pos="51000">
                    <a:srgbClr val="FFF177"/>
                  </a:gs>
                  <a:gs pos="74000">
                    <a:srgbClr val="FCC55E"/>
                  </a:gs>
                </a:gsLst>
                <a:lin ang="5400000" scaled="0"/>
              </a:gradFill>
              <a:ea typeface="思源黑体 CN Heavy" panose="020B0A00000000000000" pitchFamily="34" charset="-122"/>
              <a:sym typeface="微软雅黑" panose="020B0503020204020204" charset="-122"/>
            </a:endParaRPr>
          </a:p>
          <a:p>
            <a:pPr defTabSz="1219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检查数据是不是几乎被 </a:t>
            </a:r>
            <a:r>
              <a:rPr lang="en-US" altLang="zh-CN" sz="12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1–2 </a:t>
            </a:r>
            <a:r>
              <a:rPr lang="zh-CN" altLang="en-US" sz="1200" b="1" dirty="0">
                <a:solidFill>
                  <a:srgbClr val="FFFFFF"/>
                </a:solidFill>
                <a:ea typeface="思源黑体 CN Heavy" panose="020B0A00000000000000" pitchFamily="34" charset="-122"/>
                <a:sym typeface="微软雅黑" panose="020B0503020204020204" charset="-122"/>
              </a:rPr>
              <a:t>个方向决定</a:t>
            </a:r>
            <a:endParaRPr lang="en-US" altLang="zh-CN" sz="1200" b="1" dirty="0">
              <a:solidFill>
                <a:srgbClr val="FFFFFF"/>
              </a:solidFill>
              <a:ea typeface="思源黑体 CN Heavy" panose="020B0A00000000000000" pitchFamily="34" charset="-122"/>
              <a:sym typeface="微软雅黑" panose="020B0503020204020204" charset="-122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E3404A8-DFA8-01DE-D653-19BBA150BEBA}"/>
              </a:ext>
            </a:extLst>
          </p:cNvPr>
          <p:cNvSpPr/>
          <p:nvPr/>
        </p:nvSpPr>
        <p:spPr>
          <a:xfrm>
            <a:off x="284954" y="1677093"/>
            <a:ext cx="3698895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EDA+</a:t>
            </a:r>
            <a:r>
              <a:rPr lang="en-US" altLang="zh-CN" sz="1600" b="1" dirty="0">
                <a:solidFill>
                  <a:srgbClr val="FFFFFF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sym typeface="微软雅黑" panose="020B0503020204020204" charset="-122"/>
              </a:rPr>
              <a:t>PCA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）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76FA590-D4C9-40A3-BE66-3893498B85EB}"/>
              </a:ext>
            </a:extLst>
          </p:cNvPr>
          <p:cNvSpPr/>
          <p:nvPr/>
        </p:nvSpPr>
        <p:spPr>
          <a:xfrm>
            <a:off x="9793705" y="1434110"/>
            <a:ext cx="2189749" cy="4001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defTabSz="1219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2000" b="1" i="0" u="none" strike="noStrike" kern="1200" cap="none" spc="0" normalizeH="0" baseline="0" dirty="0">
                <a:solidFill>
                  <a:srgbClr val="FFFFFF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  <a:sym typeface="微软雅黑" panose="020B0503020204020204" charset="-122"/>
              </a:rPr>
              <a:t>方案核心竞争力</a:t>
            </a:r>
            <a:endParaRPr kumimoji="0" lang="en-US" altLang="zh-CN" sz="2000" b="1" i="0" u="none" strike="noStrike" kern="1200" cap="none" spc="0" normalizeH="0" baseline="0" dirty="0">
              <a:solidFill>
                <a:srgbClr val="FFFFFF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932588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201</Words>
  <Application>Microsoft Office PowerPoint</Application>
  <PresentationFormat>宽屏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思源黑体 CN Heavy</vt:lpstr>
      <vt:lpstr>微软雅黑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Siyu Mao</cp:lastModifiedBy>
  <cp:revision>6</cp:revision>
  <dcterms:created xsi:type="dcterms:W3CDTF">2023-08-09T12:44:00Z</dcterms:created>
  <dcterms:modified xsi:type="dcterms:W3CDTF">2026-04-13T14:49:44Z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6F1F2680D0DE4A7DBB0E7801397AD0AC_12</vt:lpwstr>
  </property>
</Properties>
</file>